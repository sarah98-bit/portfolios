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  <p:embeddedFont>
      <p:font typeface="Lato Light"/>
      <p:regular r:id="rId25"/>
      <p:bold r:id="rId26"/>
      <p:italic r:id="rId27"/>
      <p:boldItalic r:id="rId28"/>
    </p:embeddedFont>
    <p:embeddedFont>
      <p:font typeface="Poppins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Light-bold.fntdata"/><Relationship Id="rId25" Type="http://schemas.openxmlformats.org/officeDocument/2006/relationships/font" Target="fonts/LatoLight-regular.fntdata"/><Relationship Id="rId28" Type="http://schemas.openxmlformats.org/officeDocument/2006/relationships/font" Target="fonts/LatoLight-boldItalic.fntdata"/><Relationship Id="rId27" Type="http://schemas.openxmlformats.org/officeDocument/2006/relationships/font" Target="fonts/Lato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SemiBold-italic.fntdata"/><Relationship Id="rId30" Type="http://schemas.openxmlformats.org/officeDocument/2006/relationships/font" Target="fonts/PoppinsSemi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PoppinsSemiBol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regular.fntdata"/><Relationship Id="rId16" Type="http://schemas.openxmlformats.org/officeDocument/2006/relationships/slide" Target="slides/slide11.xml"/><Relationship Id="rId19" Type="http://schemas.openxmlformats.org/officeDocument/2006/relationships/font" Target="fonts/Poppins-italic.fntdata"/><Relationship Id="rId1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876425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SMART AGRICULTURE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886075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82F6"/>
                </a:solidFill>
                <a:latin typeface="Lato Light"/>
                <a:ea typeface="Lato Light"/>
                <a:cs typeface="Lato Light"/>
                <a:sym typeface="Lato Light"/>
              </a:rPr>
              <a:t>The BBIT Revolution in Food Systems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381625" y="3865215"/>
            <a:ext cx="1428750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43671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Engineering Sustainable Futures through IoT, AI, and Blockchain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95275" y="2634555"/>
            <a:ext cx="116014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i="0" lang="en-US" sz="52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IT Catalyst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529905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82F6"/>
                </a:solidFill>
                <a:latin typeface="Lato Light"/>
                <a:ea typeface="Lato Light"/>
                <a:cs typeface="Lato Light"/>
                <a:sym typeface="Lato Light"/>
              </a:rPr>
              <a:t>Why Information Technology is the Backbone of the New Green Revolution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0483"/>
            <a:ext cx="5238750" cy="2906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40483"/>
            <a:ext cx="5238750" cy="290646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FROM INTUITION TO INSIGHT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571500" y="571500"/>
            <a:ext cx="76200" cy="5485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962025" y="2831008"/>
            <a:ext cx="468058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Traditional Farming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62025" y="3406229"/>
            <a:ext cx="44577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Experience-based and reactive. Heavily reliant on manual labor and historical intuition, leading to high resource waste and unpredictable yields due to climate shifts.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772275" y="2831008"/>
            <a:ext cx="468058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Smart Agriculture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772275" y="3406229"/>
            <a:ext cx="44577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Data-driven and proactive. Utilizing real-time telemetry from the field to optimize every drop of water and gram of fertilizer, ensuring precision and scalability.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571500" y="571500"/>
            <a:ext cx="52006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INTERNET OF LIVING THINGS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71500" y="3005435"/>
            <a:ext cx="49530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IoT acts as the nervous system of the modern farm. In BBIT architecture, sensors create a pervasive mesh network monitoring: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828675" y="441192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952500" y="4410967"/>
            <a:ext cx="4572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VPD (Vapor Pressure Deficit)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28675" y="4747081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952500" y="4746128"/>
            <a:ext cx="4572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N-P-K Soil Composition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28675" y="508224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952500" y="5081289"/>
            <a:ext cx="4572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Sub-surface Moisture Telemetry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1080"/>
            <a:ext cx="3492549" cy="47854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501080"/>
            <a:ext cx="3492549" cy="47854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501080"/>
            <a:ext cx="3492549" cy="478541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INVENTIONS IN FARM ROBOTICS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571500" y="571500"/>
            <a:ext cx="76200" cy="5485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884236" y="2806005"/>
            <a:ext cx="2867077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Autonomous Weeding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952500" y="3655516"/>
            <a:ext cx="273054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Using computer vision and Edge AI to identify and laser-neutralize weeds without chemicals.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4662535" y="2806005"/>
            <a:ext cx="286707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Aerial GIS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4730799" y="3335535"/>
            <a:ext cx="273054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Multispectral drone imaging to detect crop stress and disease long before the human eye.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440835" y="2806005"/>
            <a:ext cx="286707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Swarm Intelligence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509099" y="3335535"/>
            <a:ext cx="273054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Coordinated micro-robots managing large-scale harvesting with surgical precision.</a:t>
            </a:r>
            <a:endParaRPr/>
          </a:p>
        </p:txBody>
      </p:sp>
      <p:pic>
        <p:nvPicPr>
          <p:cNvPr descr="image.png" id="138" name="Google Shape;13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60512" y="1948755"/>
            <a:ext cx="71437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88549" y="1948755"/>
            <a:ext cx="5715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AI &amp; PREDICTIVE ANALYTICS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571500" y="571500"/>
            <a:ext cx="76200" cy="5485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571500" y="2644526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"Brain" of the operation. BBIT systems leverage Machine Learning to process petabytes of environmental data.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71500" y="3859559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Yield Prediction: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Accurate harvest forecasting for market stability.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71500" y="4529881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Pest Modeling: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Predicting outbreaks using weather patterns.</a:t>
            </a:r>
            <a:endParaRPr/>
          </a:p>
        </p:txBody>
      </p:sp>
      <p:pic>
        <p:nvPicPr>
          <p:cNvPr descr="image.png" id="150" name="Google Shape;1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22475" y="2830827"/>
            <a:ext cx="3752650" cy="208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GLOBAL EFFICIENCY METRICS</a:t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571500" y="571500"/>
            <a:ext cx="76200" cy="5485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571500" y="2945903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70%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571500" y="4469903"/>
            <a:ext cx="5238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Waste Reduction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6381750" y="2906910"/>
            <a:ext cx="550068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Scaling for 10 Billion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6381750" y="3330326"/>
            <a:ext cx="523875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By 2050, the global population will reach 10 billion. Smart Agriculture is not just an innovation; it is a necessity. Through BBIT integration, we can produce more food using 40% less land and 70% less water.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DIGITAL TWIN ROADMAP</a:t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571500" y="571500"/>
            <a:ext cx="76200" cy="5485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571500" y="2626691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510733" y="3360241"/>
            <a:ext cx="2552193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Q1: Sensor Deployment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571500" y="3783657"/>
            <a:ext cx="243066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Installing the IoLT mesh network across the farm topography.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6256094" y="3360241"/>
            <a:ext cx="2552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Q3: AI Training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6316898" y="3881107"/>
            <a:ext cx="2430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Developing custom ML models based on specific soil microbiomes.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3383413" y="2788741"/>
            <a:ext cx="2552193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Q2: Integration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3444180" y="3574107"/>
            <a:ext cx="243066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Aggregating data into a centralized cloud-native repository.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9128774" y="2788741"/>
            <a:ext cx="2552193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Q4: Autonomy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9189541" y="3574107"/>
            <a:ext cx="243066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Fully operational digital-twin farm with predictive feedback loops.</a:t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1672530" y="253144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4545223" y="253144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7298541" y="253144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10290571" y="253144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AGRI-TECH CYBERSECURITY</a:t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571500" y="571500"/>
            <a:ext cx="76200" cy="5485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1047750" y="2762398"/>
            <a:ext cx="10572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Zero Trust Architecture: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Every sensor must be authenticated before pushing data to the core.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1047750" y="3366194"/>
            <a:ext cx="10572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Encrypted Telemetry: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Protecting farm yield data from corporate espionage or market manipulation.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1047750" y="3969990"/>
            <a:ext cx="10572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Resilient Recovery: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Redundant backups of farm digital twins to prevent operational downtime.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1047750" y="4573785"/>
            <a:ext cx="10572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Identity Management: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Strict role-based access for irrigation and machinery controls.</a:t>
            </a:r>
            <a:endParaRPr/>
          </a:p>
        </p:txBody>
      </p:sp>
      <p:pic>
        <p:nvPicPr>
          <p:cNvPr descr="image.png" id="193" name="Google Shape;19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3383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37632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41427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645223"/>
            <a:ext cx="23812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825" y="0"/>
            <a:ext cx="12243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423175" y="770450"/>
            <a:ext cx="10308600" cy="49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10B981"/>
                </a:solidFill>
                <a:highlight>
                  <a:srgbClr val="111827"/>
                </a:highlight>
                <a:latin typeface="Poppins"/>
                <a:ea typeface="Poppins"/>
                <a:cs typeface="Poppins"/>
                <a:sym typeface="Poppins"/>
              </a:rPr>
              <a:t>THE FUTURE IS VERTICAL</a:t>
            </a:r>
            <a:endParaRPr b="1" sz="6000">
              <a:solidFill>
                <a:srgbClr val="10B981"/>
              </a:solidFill>
              <a:highlight>
                <a:srgbClr val="111827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6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F8FAFC"/>
                </a:solidFill>
                <a:highlight>
                  <a:srgbClr val="111827"/>
                </a:highlight>
                <a:latin typeface="Lato"/>
                <a:ea typeface="Lato"/>
                <a:cs typeface="Lato"/>
                <a:sym typeface="Lato"/>
              </a:rPr>
              <a:t>A world where agriculture is not limited by soil or climate, but empowered by the systems we build.</a:t>
            </a:r>
            <a:endParaRPr sz="2400">
              <a:solidFill>
                <a:srgbClr val="F8FAFC"/>
              </a:solidFill>
              <a:highlight>
                <a:srgbClr val="111827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5700" y="2865090"/>
            <a:ext cx="4800600" cy="154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3"/>
          <p:cNvSpPr txBox="1"/>
          <p:nvPr/>
        </p:nvSpPr>
        <p:spPr>
          <a:xfrm>
            <a:off x="295275" y="571500"/>
            <a:ext cx="11601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571500" y="169545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82F6"/>
                </a:solidFill>
                <a:latin typeface="Lato Light"/>
                <a:ea typeface="Lato Light"/>
                <a:cs typeface="Lato Light"/>
                <a:sym typeface="Lato Light"/>
              </a:rPr>
              <a:t>Innovation in the field begins with your vision.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3981450" y="3150840"/>
            <a:ext cx="42291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Research Lead: BBIT AgTech Division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3981450" y="3581251"/>
            <a:ext cx="42291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Enabling the future of intelligent food systems.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