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Poppins"/>
      <p:regular r:id="rId18"/>
      <p:bold r:id="rId19"/>
      <p:italic r:id="rId20"/>
      <p:boldItalic r:id="rId21"/>
    </p:embeddedFont>
    <p:embeddedFont>
      <p:font typeface="Lato"/>
      <p:regular r:id="rId22"/>
      <p:bold r:id="rId23"/>
      <p:italic r:id="rId24"/>
      <p:boldItalic r:id="rId25"/>
    </p:embeddedFont>
    <p:embeddedFont>
      <p:font typeface="Poppins SemiBold"/>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schemas.openxmlformats.org/officeDocument/2006/relationships/font" Target="fonts/Lato-regular.fntdata"/><Relationship Id="rId21" Type="http://schemas.openxmlformats.org/officeDocument/2006/relationships/font" Target="fonts/Poppins-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SemiBold-regular.fntdata"/><Relationship Id="rId25" Type="http://schemas.openxmlformats.org/officeDocument/2006/relationships/font" Target="fonts/Lato-boldItalic.fntdata"/><Relationship Id="rId28" Type="http://schemas.openxmlformats.org/officeDocument/2006/relationships/font" Target="fonts/PoppinsSemiBold-italic.fntdata"/><Relationship Id="rId27" Type="http://schemas.openxmlformats.org/officeDocument/2006/relationships/font" Target="fonts/PoppinsSemi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SemiBold-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image" Target="../media/image15.png"/><Relationship Id="rId10" Type="http://schemas.openxmlformats.org/officeDocument/2006/relationships/image" Target="../media/image8.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7.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16.png"/><Relationship Id="rId9"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40.png"/><Relationship Id="rId7" Type="http://schemas.openxmlformats.org/officeDocument/2006/relationships/image" Target="../media/image14.png"/><Relationship Id="rId8"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17.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31.png"/><Relationship Id="rId10" Type="http://schemas.openxmlformats.org/officeDocument/2006/relationships/image" Target="../media/image25.png"/><Relationship Id="rId9" Type="http://schemas.openxmlformats.org/officeDocument/2006/relationships/image" Target="../media/image19.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4.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32.png"/><Relationship Id="rId7" Type="http://schemas.openxmlformats.org/officeDocument/2006/relationships/image" Target="../media/image30.png"/><Relationship Id="rId8"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34.png"/><Relationship Id="rId9" Type="http://schemas.openxmlformats.org/officeDocument/2006/relationships/image" Target="../media/image36.png"/><Relationship Id="rId5" Type="http://schemas.openxmlformats.org/officeDocument/2006/relationships/image" Target="../media/image4.png"/><Relationship Id="rId6" Type="http://schemas.openxmlformats.org/officeDocument/2006/relationships/image" Target="../media/image37.png"/><Relationship Id="rId7" Type="http://schemas.openxmlformats.org/officeDocument/2006/relationships/image" Target="../media/image39.png"/><Relationship Id="rId8"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571500" y="571500"/>
            <a:ext cx="11049000" cy="3866852"/>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87" name="Google Shape;87;p13"/>
          <p:cNvSpPr txBox="1"/>
          <p:nvPr/>
        </p:nvSpPr>
        <p:spPr>
          <a:xfrm>
            <a:off x="1095375" y="1333500"/>
            <a:ext cx="10001250" cy="150852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1A237E"/>
                </a:solidFill>
                <a:latin typeface="Poppins"/>
                <a:ea typeface="Poppins"/>
                <a:cs typeface="Poppins"/>
                <a:sym typeface="Poppins"/>
              </a:rPr>
              <a:t>The Digital Renaissance</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1A237E"/>
                </a:solidFill>
                <a:latin typeface="Poppins"/>
                <a:ea typeface="Poppins"/>
                <a:cs typeface="Poppins"/>
                <a:sym typeface="Poppins"/>
              </a:rPr>
              <a:t> of African Heritage</a:t>
            </a:r>
            <a:endParaRPr/>
          </a:p>
        </p:txBody>
      </p:sp>
      <p:sp>
        <p:nvSpPr>
          <p:cNvPr id="88" name="Google Shape;88;p13"/>
          <p:cNvSpPr txBox="1"/>
          <p:nvPr/>
        </p:nvSpPr>
        <p:spPr>
          <a:xfrm>
            <a:off x="1333500" y="3032521"/>
            <a:ext cx="952500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757575"/>
                </a:solidFill>
                <a:latin typeface="Lato"/>
                <a:ea typeface="Lato"/>
                <a:cs typeface="Lato"/>
                <a:sym typeface="Lato"/>
              </a:rPr>
              <a:t>A Modern Synthesis of Ancestral Tradition and Emerging Technology</a:t>
            </a:r>
            <a:endParaRPr/>
          </a:p>
        </p:txBody>
      </p:sp>
      <p:sp>
        <p:nvSpPr>
          <p:cNvPr id="89" name="Google Shape;89;p13"/>
          <p:cNvSpPr txBox="1"/>
          <p:nvPr/>
        </p:nvSpPr>
        <p:spPr>
          <a:xfrm>
            <a:off x="571500" y="6410325"/>
            <a:ext cx="13049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Innovation &amp; Heritage</a:t>
            </a:r>
            <a:endParaRPr/>
          </a:p>
        </p:txBody>
      </p:sp>
      <p:sp>
        <p:nvSpPr>
          <p:cNvPr id="90" name="Google Shape;90;p13"/>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01</a:t>
            </a:r>
            <a:endParaRPr/>
          </a:p>
        </p:txBody>
      </p:sp>
      <p:sp>
        <p:nvSpPr>
          <p:cNvPr id="91" name="Google Shape;91;p13"/>
          <p:cNvSpPr txBox="1"/>
          <p:nvPr/>
        </p:nvSpPr>
        <p:spPr>
          <a:xfrm>
            <a:off x="3349250" y="3837700"/>
            <a:ext cx="5990700" cy="3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600">
                <a:solidFill>
                  <a:srgbClr val="424242"/>
                </a:solidFill>
                <a:latin typeface="Calibri"/>
                <a:ea typeface="Calibri"/>
                <a:cs typeface="Calibri"/>
                <a:sym typeface="Calibri"/>
              </a:rPr>
              <a:t>Presented by Sarah Wairimu Thuo</a:t>
            </a:r>
            <a:endParaRPr i="1" sz="1600">
              <a:solidFill>
                <a:srgbClr val="42424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7E"/>
        </a:solidFill>
      </p:bgPr>
    </p:bg>
    <p:spTree>
      <p:nvGrpSpPr>
        <p:cNvPr id="95" name="Shape 95"/>
        <p:cNvGrpSpPr/>
        <p:nvPr/>
      </p:nvGrpSpPr>
      <p:grpSpPr>
        <a:xfrm>
          <a:off x="0" y="0"/>
          <a:ext cx="0" cy="0"/>
          <a:chOff x="0" y="0"/>
          <a:chExt cx="0" cy="0"/>
        </a:xfrm>
      </p:grpSpPr>
      <p:pic>
        <p:nvPicPr>
          <p:cNvPr descr="image.png" id="96" name="Google Shape;96;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7" name="Google Shape;97;p14"/>
          <p:cNvSpPr txBox="1"/>
          <p:nvPr/>
        </p:nvSpPr>
        <p:spPr>
          <a:xfrm>
            <a:off x="295275" y="2130772"/>
            <a:ext cx="11601450"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FFFFF"/>
                </a:solidFill>
                <a:latin typeface="Poppins"/>
                <a:ea typeface="Poppins"/>
                <a:cs typeface="Poppins"/>
                <a:sym typeface="Poppins"/>
              </a:rPr>
              <a:t>Leapfrogging with Purpose</a:t>
            </a:r>
            <a:endParaRPr/>
          </a:p>
        </p:txBody>
      </p:sp>
      <p:sp>
        <p:nvSpPr>
          <p:cNvPr id="98" name="Google Shape;98;p14"/>
          <p:cNvSpPr/>
          <p:nvPr/>
        </p:nvSpPr>
        <p:spPr>
          <a:xfrm>
            <a:off x="5524500" y="3416647"/>
            <a:ext cx="1143000" cy="76200"/>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4"/>
          <p:cNvSpPr txBox="1"/>
          <p:nvPr/>
        </p:nvSpPr>
        <p:spPr>
          <a:xfrm>
            <a:off x="2286000" y="3873847"/>
            <a:ext cx="7620000" cy="85338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C5CAE9"/>
                </a:solidFill>
                <a:latin typeface="Lato"/>
                <a:ea typeface="Lato"/>
                <a:cs typeface="Lato"/>
                <a:sym typeface="Lato"/>
              </a:rPr>
              <a:t>How African societies are bypassing legacy systems to create a unique, culturally-rooted digital future.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pic>
        <p:nvPicPr>
          <p:cNvPr descr="image.png" id="104" name="Google Shape;10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 name="Google Shape;105;p15"/>
          <p:cNvPicPr preferRelativeResize="0"/>
          <p:nvPr/>
        </p:nvPicPr>
        <p:blipFill rotWithShape="1">
          <a:blip r:embed="rId4">
            <a:alphaModFix/>
          </a:blip>
          <a:srcRect b="0" l="0" r="0" t="0"/>
          <a:stretch/>
        </p:blipFill>
        <p:spPr>
          <a:xfrm>
            <a:off x="571500" y="1866900"/>
            <a:ext cx="3492549" cy="4124325"/>
          </a:xfrm>
          <a:prstGeom prst="rect">
            <a:avLst/>
          </a:prstGeom>
          <a:noFill/>
          <a:ln>
            <a:noFill/>
          </a:ln>
        </p:spPr>
      </p:pic>
      <p:pic>
        <p:nvPicPr>
          <p:cNvPr descr="image.png" id="106" name="Google Shape;106;p15"/>
          <p:cNvPicPr preferRelativeResize="0"/>
          <p:nvPr/>
        </p:nvPicPr>
        <p:blipFill rotWithShape="1">
          <a:blip r:embed="rId5">
            <a:alphaModFix/>
          </a:blip>
          <a:srcRect b="0" l="0" r="0" t="0"/>
          <a:stretch/>
        </p:blipFill>
        <p:spPr>
          <a:xfrm>
            <a:off x="4349799" y="1866900"/>
            <a:ext cx="3492549" cy="4124325"/>
          </a:xfrm>
          <a:prstGeom prst="rect">
            <a:avLst/>
          </a:prstGeom>
          <a:noFill/>
          <a:ln>
            <a:noFill/>
          </a:ln>
        </p:spPr>
      </p:pic>
      <p:pic>
        <p:nvPicPr>
          <p:cNvPr descr="image.png" id="107" name="Google Shape;107;p15"/>
          <p:cNvPicPr preferRelativeResize="0"/>
          <p:nvPr/>
        </p:nvPicPr>
        <p:blipFill rotWithShape="1">
          <a:blip r:embed="rId6">
            <a:alphaModFix/>
          </a:blip>
          <a:srcRect b="0" l="0" r="0" t="0"/>
          <a:stretch/>
        </p:blipFill>
        <p:spPr>
          <a:xfrm>
            <a:off x="8128099" y="1866900"/>
            <a:ext cx="3492549" cy="4124325"/>
          </a:xfrm>
          <a:prstGeom prst="rect">
            <a:avLst/>
          </a:prstGeom>
          <a:noFill/>
          <a:ln>
            <a:noFill/>
          </a:ln>
        </p:spPr>
      </p:pic>
      <p:pic>
        <p:nvPicPr>
          <p:cNvPr descr="image.png" id="108" name="Google Shape;108;p15"/>
          <p:cNvPicPr preferRelativeResize="0"/>
          <p:nvPr/>
        </p:nvPicPr>
        <p:blipFill rotWithShape="1">
          <a:blip r:embed="rId7">
            <a:alphaModFix/>
          </a:blip>
          <a:srcRect b="0" l="0" r="0" t="0"/>
          <a:stretch/>
        </p:blipFill>
        <p:spPr>
          <a:xfrm>
            <a:off x="571500" y="6257925"/>
            <a:ext cx="11049000" cy="314325"/>
          </a:xfrm>
          <a:prstGeom prst="rect">
            <a:avLst/>
          </a:prstGeom>
          <a:noFill/>
          <a:ln>
            <a:noFill/>
          </a:ln>
        </p:spPr>
      </p:pic>
      <p:sp>
        <p:nvSpPr>
          <p:cNvPr id="109" name="Google Shape;109;p15"/>
          <p:cNvSpPr txBox="1"/>
          <p:nvPr/>
        </p:nvSpPr>
        <p:spPr>
          <a:xfrm>
            <a:off x="571500" y="6410325"/>
            <a:ext cx="140017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Conceptual Framework</a:t>
            </a:r>
            <a:endParaRPr/>
          </a:p>
        </p:txBody>
      </p:sp>
      <p:sp>
        <p:nvSpPr>
          <p:cNvPr id="110" name="Google Shape;110;p15"/>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03</a:t>
            </a:r>
            <a:endParaRPr/>
          </a:p>
        </p:txBody>
      </p:sp>
      <p:sp>
        <p:nvSpPr>
          <p:cNvPr id="111" name="Google Shape;111;p15"/>
          <p:cNvSpPr txBox="1"/>
          <p:nvPr/>
        </p:nvSpPr>
        <p:spPr>
          <a:xfrm>
            <a:off x="962025" y="3038475"/>
            <a:ext cx="2847074"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Ubuntu 2.0</a:t>
            </a:r>
            <a:endParaRPr/>
          </a:p>
        </p:txBody>
      </p:sp>
      <p:sp>
        <p:nvSpPr>
          <p:cNvPr id="112" name="Google Shape;112;p15"/>
          <p:cNvSpPr txBox="1"/>
          <p:nvPr/>
        </p:nvSpPr>
        <p:spPr>
          <a:xfrm>
            <a:off x="962025" y="3686175"/>
            <a:ext cx="271149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Digital communalism where social media and WhatsApp groups act as modern community councils for collective growth.</a:t>
            </a:r>
            <a:endParaRPr/>
          </a:p>
        </p:txBody>
      </p:sp>
      <p:sp>
        <p:nvSpPr>
          <p:cNvPr id="113" name="Google Shape;113;p15"/>
          <p:cNvSpPr txBox="1"/>
          <p:nvPr/>
        </p:nvSpPr>
        <p:spPr>
          <a:xfrm>
            <a:off x="4740324" y="3038475"/>
            <a:ext cx="2847074"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Frugal Innovation</a:t>
            </a:r>
            <a:endParaRPr/>
          </a:p>
        </p:txBody>
      </p:sp>
      <p:sp>
        <p:nvSpPr>
          <p:cNvPr id="114" name="Google Shape;114;p15"/>
          <p:cNvSpPr txBox="1"/>
          <p:nvPr/>
        </p:nvSpPr>
        <p:spPr>
          <a:xfrm>
            <a:off x="4740324" y="4143375"/>
            <a:ext cx="271149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"Jua Kali" tech spirit: Creating high-impact solutions with minimal resources to solve localized challenges.</a:t>
            </a:r>
            <a:endParaRPr/>
          </a:p>
        </p:txBody>
      </p:sp>
      <p:sp>
        <p:nvSpPr>
          <p:cNvPr id="115" name="Google Shape;115;p15"/>
          <p:cNvSpPr txBox="1"/>
          <p:nvPr/>
        </p:nvSpPr>
        <p:spPr>
          <a:xfrm>
            <a:off x="8518624" y="3038475"/>
            <a:ext cx="2847074"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The Digital Griot</a:t>
            </a:r>
            <a:endParaRPr/>
          </a:p>
        </p:txBody>
      </p:sp>
      <p:sp>
        <p:nvSpPr>
          <p:cNvPr id="116" name="Google Shape;116;p15"/>
          <p:cNvSpPr txBox="1"/>
          <p:nvPr/>
        </p:nvSpPr>
        <p:spPr>
          <a:xfrm>
            <a:off x="8518624" y="3686175"/>
            <a:ext cx="2711499"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Traditional oral history transformed into global podcasts, archiving indigenous languages for the next generation.</a:t>
            </a:r>
            <a:endParaRPr/>
          </a:p>
        </p:txBody>
      </p:sp>
      <p:pic>
        <p:nvPicPr>
          <p:cNvPr descr="image.png" id="117" name="Google Shape;117;p15"/>
          <p:cNvPicPr preferRelativeResize="0"/>
          <p:nvPr/>
        </p:nvPicPr>
        <p:blipFill rotWithShape="1">
          <a:blip r:embed="rId8">
            <a:alphaModFix/>
          </a:blip>
          <a:srcRect b="0" l="0" r="0" t="0"/>
          <a:stretch/>
        </p:blipFill>
        <p:spPr>
          <a:xfrm>
            <a:off x="962025" y="2305050"/>
            <a:ext cx="571500" cy="457200"/>
          </a:xfrm>
          <a:prstGeom prst="rect">
            <a:avLst/>
          </a:prstGeom>
          <a:noFill/>
          <a:ln>
            <a:noFill/>
          </a:ln>
        </p:spPr>
      </p:pic>
      <p:pic>
        <p:nvPicPr>
          <p:cNvPr descr="image.png" id="118" name="Google Shape;118;p15"/>
          <p:cNvPicPr preferRelativeResize="0"/>
          <p:nvPr/>
        </p:nvPicPr>
        <p:blipFill rotWithShape="1">
          <a:blip r:embed="rId9">
            <a:alphaModFix/>
          </a:blip>
          <a:srcRect b="0" l="0" r="0" t="0"/>
          <a:stretch/>
        </p:blipFill>
        <p:spPr>
          <a:xfrm>
            <a:off x="4740324" y="2305050"/>
            <a:ext cx="342900" cy="457200"/>
          </a:xfrm>
          <a:prstGeom prst="rect">
            <a:avLst/>
          </a:prstGeom>
          <a:noFill/>
          <a:ln>
            <a:noFill/>
          </a:ln>
        </p:spPr>
      </p:pic>
      <p:pic>
        <p:nvPicPr>
          <p:cNvPr descr="image.png" id="119" name="Google Shape;119;p15"/>
          <p:cNvPicPr preferRelativeResize="0"/>
          <p:nvPr/>
        </p:nvPicPr>
        <p:blipFill rotWithShape="1">
          <a:blip r:embed="rId10">
            <a:alphaModFix/>
          </a:blip>
          <a:srcRect b="0" l="0" r="0" t="0"/>
          <a:stretch/>
        </p:blipFill>
        <p:spPr>
          <a:xfrm>
            <a:off x="8518624" y="2305050"/>
            <a:ext cx="342900" cy="457200"/>
          </a:xfrm>
          <a:prstGeom prst="rect">
            <a:avLst/>
          </a:prstGeom>
          <a:noFill/>
          <a:ln>
            <a:noFill/>
          </a:ln>
        </p:spPr>
      </p:pic>
      <p:sp>
        <p:nvSpPr>
          <p:cNvPr id="120" name="Google Shape;120;p15"/>
          <p:cNvSpPr txBox="1"/>
          <p:nvPr/>
        </p:nvSpPr>
        <p:spPr>
          <a:xfrm>
            <a:off x="762000" y="571500"/>
            <a:ext cx="11401425"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CORE PHILOSOPHIES</a:t>
            </a:r>
            <a:endParaRPr/>
          </a:p>
        </p:txBody>
      </p:sp>
      <p:sp>
        <p:nvSpPr>
          <p:cNvPr id="121" name="Google Shape;121;p15"/>
          <p:cNvSpPr/>
          <p:nvPr/>
        </p:nvSpPr>
        <p:spPr>
          <a:xfrm>
            <a:off x="571500" y="5715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pic>
        <p:nvPicPr>
          <p:cNvPr descr="image.png" id="126" name="Google Shape;126;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7" name="Google Shape;127;p16"/>
          <p:cNvPicPr preferRelativeResize="0"/>
          <p:nvPr/>
        </p:nvPicPr>
        <p:blipFill rotWithShape="1">
          <a:blip r:embed="rId4">
            <a:alphaModFix/>
          </a:blip>
          <a:srcRect b="0" l="0" r="0" t="0"/>
          <a:stretch/>
        </p:blipFill>
        <p:spPr>
          <a:xfrm>
            <a:off x="571500" y="6257925"/>
            <a:ext cx="6096000" cy="314325"/>
          </a:xfrm>
          <a:prstGeom prst="rect">
            <a:avLst/>
          </a:prstGeom>
          <a:noFill/>
          <a:ln>
            <a:noFill/>
          </a:ln>
        </p:spPr>
      </p:pic>
      <p:sp>
        <p:nvSpPr>
          <p:cNvPr id="128" name="Google Shape;128;p16"/>
          <p:cNvSpPr txBox="1"/>
          <p:nvPr/>
        </p:nvSpPr>
        <p:spPr>
          <a:xfrm>
            <a:off x="571500" y="1104900"/>
            <a:ext cx="5200650"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FINTECH AS A BRIDGE</a:t>
            </a:r>
            <a:endParaRPr/>
          </a:p>
        </p:txBody>
      </p:sp>
      <p:sp>
        <p:nvSpPr>
          <p:cNvPr id="129" name="Google Shape;129;p16"/>
          <p:cNvSpPr/>
          <p:nvPr/>
        </p:nvSpPr>
        <p:spPr>
          <a:xfrm>
            <a:off x="381000" y="11049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6"/>
          <p:cNvSpPr txBox="1"/>
          <p:nvPr/>
        </p:nvSpPr>
        <p:spPr>
          <a:xfrm>
            <a:off x="571500" y="2105025"/>
            <a:ext cx="520065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Mobile Money: The New Market Pulse</a:t>
            </a:r>
            <a:endParaRPr/>
          </a:p>
        </p:txBody>
      </p:sp>
      <p:sp>
        <p:nvSpPr>
          <p:cNvPr id="131" name="Google Shape;131;p16"/>
          <p:cNvSpPr txBox="1"/>
          <p:nvPr/>
        </p:nvSpPr>
        <p:spPr>
          <a:xfrm>
            <a:off x="571500" y="3352800"/>
            <a:ext cx="4953000"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In local markets across the continent, tradition meets tech at every stall. Traditional traders use mobile money platforms like M-Pesa to manage complex cross-border trade, proving that digital tools thrive when they mirror cultural exchange patterns.</a:t>
            </a:r>
            <a:endParaRPr/>
          </a:p>
        </p:txBody>
      </p:sp>
      <p:sp>
        <p:nvSpPr>
          <p:cNvPr id="132" name="Google Shape;132;p16"/>
          <p:cNvSpPr txBox="1"/>
          <p:nvPr/>
        </p:nvSpPr>
        <p:spPr>
          <a:xfrm>
            <a:off x="571500" y="5257800"/>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A237E"/>
                </a:solidFill>
                <a:latin typeface="Lato"/>
                <a:ea typeface="Lato"/>
                <a:cs typeface="Lato"/>
                <a:sym typeface="Lato"/>
              </a:rPr>
              <a:t>70% of global mobile money transactions occur in Africa.</a:t>
            </a:r>
            <a:endParaRPr/>
          </a:p>
        </p:txBody>
      </p:sp>
      <p:sp>
        <p:nvSpPr>
          <p:cNvPr id="133" name="Google Shape;133;p16"/>
          <p:cNvSpPr txBox="1"/>
          <p:nvPr/>
        </p:nvSpPr>
        <p:spPr>
          <a:xfrm>
            <a:off x="571500" y="6410325"/>
            <a:ext cx="15430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Economic Transformation</a:t>
            </a:r>
            <a:endParaRPr/>
          </a:p>
        </p:txBody>
      </p:sp>
      <p:sp>
        <p:nvSpPr>
          <p:cNvPr id="134" name="Google Shape;134;p16"/>
          <p:cNvSpPr txBox="1"/>
          <p:nvPr/>
        </p:nvSpPr>
        <p:spPr>
          <a:xfrm>
            <a:off x="6200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pic>
        <p:nvPicPr>
          <p:cNvPr descr="image.png" id="139" name="Google Shape;139;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0" name="Google Shape;140;p17"/>
          <p:cNvPicPr preferRelativeResize="0"/>
          <p:nvPr/>
        </p:nvPicPr>
        <p:blipFill rotWithShape="1">
          <a:blip r:embed="rId4">
            <a:alphaModFix/>
          </a:blip>
          <a:srcRect b="0" l="0" r="0" t="0"/>
          <a:stretch/>
        </p:blipFill>
        <p:spPr>
          <a:xfrm>
            <a:off x="6381750" y="2024062"/>
            <a:ext cx="5238750" cy="3810000"/>
          </a:xfrm>
          <a:prstGeom prst="rect">
            <a:avLst/>
          </a:prstGeom>
          <a:noFill/>
          <a:ln>
            <a:noFill/>
          </a:ln>
        </p:spPr>
      </p:pic>
      <p:pic>
        <p:nvPicPr>
          <p:cNvPr descr="image.png" id="141" name="Google Shape;141;p17"/>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142" name="Google Shape;142;p17"/>
          <p:cNvSpPr txBox="1"/>
          <p:nvPr/>
        </p:nvSpPr>
        <p:spPr>
          <a:xfrm>
            <a:off x="571500" y="6410325"/>
            <a:ext cx="12763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Precision Agriculture</a:t>
            </a:r>
            <a:endParaRPr/>
          </a:p>
        </p:txBody>
      </p:sp>
      <p:sp>
        <p:nvSpPr>
          <p:cNvPr id="143" name="Google Shape;143;p17"/>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05</a:t>
            </a:r>
            <a:endParaRPr/>
          </a:p>
        </p:txBody>
      </p:sp>
      <p:sp>
        <p:nvSpPr>
          <p:cNvPr id="144" name="Google Shape;144;p17"/>
          <p:cNvSpPr txBox="1"/>
          <p:nvPr/>
        </p:nvSpPr>
        <p:spPr>
          <a:xfrm>
            <a:off x="571500" y="2038350"/>
            <a:ext cx="550068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Smart Farming</a:t>
            </a:r>
            <a:endParaRPr/>
          </a:p>
        </p:txBody>
      </p:sp>
      <p:sp>
        <p:nvSpPr>
          <p:cNvPr id="145" name="Google Shape;145;p17"/>
          <p:cNvSpPr txBox="1"/>
          <p:nvPr/>
        </p:nvSpPr>
        <p:spPr>
          <a:xfrm>
            <a:off x="571500" y="2686050"/>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Farmers are combining generational knowledge of the land with IoT sensors and satellite data. This synergy allows for precision agriculture that respects the ecological rhythms of the continent.</a:t>
            </a:r>
            <a:endParaRPr/>
          </a:p>
        </p:txBody>
      </p:sp>
      <p:pic>
        <p:nvPicPr>
          <p:cNvPr descr="image.png" id="146" name="Google Shape;146;p17"/>
          <p:cNvPicPr preferRelativeResize="0"/>
          <p:nvPr/>
        </p:nvPicPr>
        <p:blipFill rotWithShape="1">
          <a:blip r:embed="rId6">
            <a:alphaModFix/>
          </a:blip>
          <a:srcRect b="0" l="0" r="0" t="0"/>
          <a:stretch/>
        </p:blipFill>
        <p:spPr>
          <a:xfrm>
            <a:off x="6381750" y="2024062"/>
            <a:ext cx="5238750" cy="3810000"/>
          </a:xfrm>
          <a:prstGeom prst="rect">
            <a:avLst/>
          </a:prstGeom>
          <a:noFill/>
          <a:ln>
            <a:noFill/>
          </a:ln>
        </p:spPr>
      </p:pic>
      <p:sp>
        <p:nvSpPr>
          <p:cNvPr id="147" name="Google Shape;147;p17"/>
          <p:cNvSpPr txBox="1"/>
          <p:nvPr/>
        </p:nvSpPr>
        <p:spPr>
          <a:xfrm>
            <a:off x="1047750" y="4191000"/>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Real-time weather forecasting in local dialects.</a:t>
            </a:r>
            <a:endParaRPr/>
          </a:p>
        </p:txBody>
      </p:sp>
      <p:sp>
        <p:nvSpPr>
          <p:cNvPr id="148" name="Google Shape;148;p17"/>
          <p:cNvSpPr txBox="1"/>
          <p:nvPr/>
        </p:nvSpPr>
        <p:spPr>
          <a:xfrm>
            <a:off x="1047750" y="4733925"/>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Soil health monitoring via mobile apps.</a:t>
            </a:r>
            <a:endParaRPr/>
          </a:p>
        </p:txBody>
      </p:sp>
      <p:sp>
        <p:nvSpPr>
          <p:cNvPr id="149" name="Google Shape;149;p17"/>
          <p:cNvSpPr txBox="1"/>
          <p:nvPr/>
        </p:nvSpPr>
        <p:spPr>
          <a:xfrm>
            <a:off x="1047750" y="5276850"/>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Direct-to-market blockchain supply chains.</a:t>
            </a:r>
            <a:endParaRPr/>
          </a:p>
        </p:txBody>
      </p:sp>
      <p:pic>
        <p:nvPicPr>
          <p:cNvPr descr="image.png" id="150" name="Google Shape;150;p17"/>
          <p:cNvPicPr preferRelativeResize="0"/>
          <p:nvPr/>
        </p:nvPicPr>
        <p:blipFill rotWithShape="1">
          <a:blip r:embed="rId7">
            <a:alphaModFix/>
          </a:blip>
          <a:srcRect b="0" l="0" r="0" t="0"/>
          <a:stretch/>
        </p:blipFill>
        <p:spPr>
          <a:xfrm>
            <a:off x="571500" y="4233862"/>
            <a:ext cx="333375" cy="276225"/>
          </a:xfrm>
          <a:prstGeom prst="rect">
            <a:avLst/>
          </a:prstGeom>
          <a:noFill/>
          <a:ln>
            <a:noFill/>
          </a:ln>
        </p:spPr>
      </p:pic>
      <p:pic>
        <p:nvPicPr>
          <p:cNvPr descr="image.png" id="151" name="Google Shape;151;p17"/>
          <p:cNvPicPr preferRelativeResize="0"/>
          <p:nvPr/>
        </p:nvPicPr>
        <p:blipFill rotWithShape="1">
          <a:blip r:embed="rId8">
            <a:alphaModFix/>
          </a:blip>
          <a:srcRect b="0" l="0" r="0" t="0"/>
          <a:stretch/>
        </p:blipFill>
        <p:spPr>
          <a:xfrm>
            <a:off x="571500" y="4776787"/>
            <a:ext cx="266700" cy="276225"/>
          </a:xfrm>
          <a:prstGeom prst="rect">
            <a:avLst/>
          </a:prstGeom>
          <a:noFill/>
          <a:ln>
            <a:noFill/>
          </a:ln>
        </p:spPr>
      </p:pic>
      <p:pic>
        <p:nvPicPr>
          <p:cNvPr descr="image.png" id="152" name="Google Shape;152;p17"/>
          <p:cNvPicPr preferRelativeResize="0"/>
          <p:nvPr/>
        </p:nvPicPr>
        <p:blipFill rotWithShape="1">
          <a:blip r:embed="rId9">
            <a:alphaModFix/>
          </a:blip>
          <a:srcRect b="0" l="0" r="0" t="0"/>
          <a:stretch/>
        </p:blipFill>
        <p:spPr>
          <a:xfrm>
            <a:off x="571500" y="5319712"/>
            <a:ext cx="333375" cy="276225"/>
          </a:xfrm>
          <a:prstGeom prst="rect">
            <a:avLst/>
          </a:prstGeom>
          <a:noFill/>
          <a:ln>
            <a:noFill/>
          </a:ln>
        </p:spPr>
      </p:pic>
      <p:sp>
        <p:nvSpPr>
          <p:cNvPr id="153" name="Google Shape;153;p17"/>
          <p:cNvSpPr txBox="1"/>
          <p:nvPr/>
        </p:nvSpPr>
        <p:spPr>
          <a:xfrm>
            <a:off x="762000" y="571500"/>
            <a:ext cx="11401425"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ANCESTRAL WISDOM &amp; IOT</a:t>
            </a:r>
            <a:endParaRPr/>
          </a:p>
        </p:txBody>
      </p:sp>
      <p:sp>
        <p:nvSpPr>
          <p:cNvPr id="154" name="Google Shape;154;p17"/>
          <p:cNvSpPr/>
          <p:nvPr/>
        </p:nvSpPr>
        <p:spPr>
          <a:xfrm>
            <a:off x="571500" y="5715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pic>
        <p:nvPicPr>
          <p:cNvPr descr="image.png" id="159" name="Google Shape;159;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0" name="Google Shape;160;p18"/>
          <p:cNvPicPr preferRelativeResize="0"/>
          <p:nvPr/>
        </p:nvPicPr>
        <p:blipFill rotWithShape="1">
          <a:blip r:embed="rId4">
            <a:alphaModFix/>
          </a:blip>
          <a:srcRect b="0" l="0" r="0" t="0"/>
          <a:stretch/>
        </p:blipFill>
        <p:spPr>
          <a:xfrm>
            <a:off x="1285875" y="2024062"/>
            <a:ext cx="3810000" cy="3810000"/>
          </a:xfrm>
          <a:prstGeom prst="rect">
            <a:avLst/>
          </a:prstGeom>
          <a:noFill/>
          <a:ln>
            <a:noFill/>
          </a:ln>
        </p:spPr>
      </p:pic>
      <p:pic>
        <p:nvPicPr>
          <p:cNvPr descr="image.png" id="161" name="Google Shape;161;p18"/>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162" name="Google Shape;162;p18"/>
          <p:cNvSpPr txBox="1"/>
          <p:nvPr/>
        </p:nvSpPr>
        <p:spPr>
          <a:xfrm>
            <a:off x="571500" y="6410325"/>
            <a:ext cx="8096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Creative Tech</a:t>
            </a:r>
            <a:endParaRPr/>
          </a:p>
        </p:txBody>
      </p:sp>
      <p:sp>
        <p:nvSpPr>
          <p:cNvPr id="163" name="Google Shape;163;p18"/>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06</a:t>
            </a:r>
            <a:endParaRPr/>
          </a:p>
        </p:txBody>
      </p:sp>
      <p:pic>
        <p:nvPicPr>
          <p:cNvPr descr="image.png" id="164" name="Google Shape;164;p18"/>
          <p:cNvPicPr preferRelativeResize="0"/>
          <p:nvPr/>
        </p:nvPicPr>
        <p:blipFill rotWithShape="1">
          <a:blip r:embed="rId6">
            <a:alphaModFix/>
          </a:blip>
          <a:srcRect b="0" l="0" r="0" t="0"/>
          <a:stretch/>
        </p:blipFill>
        <p:spPr>
          <a:xfrm>
            <a:off x="1362075" y="2100262"/>
            <a:ext cx="3657600" cy="3657600"/>
          </a:xfrm>
          <a:prstGeom prst="rect">
            <a:avLst/>
          </a:prstGeom>
          <a:noFill/>
          <a:ln>
            <a:noFill/>
          </a:ln>
        </p:spPr>
      </p:pic>
      <p:sp>
        <p:nvSpPr>
          <p:cNvPr id="165" name="Google Shape;165;p18"/>
          <p:cNvSpPr txBox="1"/>
          <p:nvPr/>
        </p:nvSpPr>
        <p:spPr>
          <a:xfrm>
            <a:off x="6381750" y="2347912"/>
            <a:ext cx="550068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Weaving the Future</a:t>
            </a:r>
            <a:endParaRPr/>
          </a:p>
        </p:txBody>
      </p:sp>
      <p:sp>
        <p:nvSpPr>
          <p:cNvPr id="166" name="Google Shape;166;p18"/>
          <p:cNvSpPr txBox="1"/>
          <p:nvPr/>
        </p:nvSpPr>
        <p:spPr>
          <a:xfrm>
            <a:off x="6381750" y="2995612"/>
            <a:ext cx="5238750"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Designers are utilizing 3D modeling and blockchain to protect the intellectual property of traditional patterns like Kente and Bogolan. This intersection ensures that as African style goes global, the benefits return to the local artisans who own the heritage.</a:t>
            </a:r>
            <a:endParaRPr/>
          </a:p>
        </p:txBody>
      </p:sp>
      <p:sp>
        <p:nvSpPr>
          <p:cNvPr id="167" name="Google Shape;167;p18"/>
          <p:cNvSpPr txBox="1"/>
          <p:nvPr/>
        </p:nvSpPr>
        <p:spPr>
          <a:xfrm>
            <a:off x="6381750" y="4710112"/>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424242"/>
                </a:solidFill>
                <a:latin typeface="Lato"/>
                <a:ea typeface="Lato"/>
                <a:cs typeface="Lato"/>
                <a:sym typeface="Lato"/>
              </a:rPr>
              <a:t>"We are no longer just exporting fabric; we are exporting digital assets that carry our story."</a:t>
            </a:r>
            <a:endParaRPr/>
          </a:p>
        </p:txBody>
      </p:sp>
      <p:sp>
        <p:nvSpPr>
          <p:cNvPr id="168" name="Google Shape;168;p18"/>
          <p:cNvSpPr txBox="1"/>
          <p:nvPr/>
        </p:nvSpPr>
        <p:spPr>
          <a:xfrm>
            <a:off x="762000" y="571500"/>
            <a:ext cx="11401425"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DIGITAL FASHION &amp; IDENTITY</a:t>
            </a:r>
            <a:endParaRPr/>
          </a:p>
        </p:txBody>
      </p:sp>
      <p:sp>
        <p:nvSpPr>
          <p:cNvPr id="169" name="Google Shape;169;p18"/>
          <p:cNvSpPr/>
          <p:nvPr/>
        </p:nvSpPr>
        <p:spPr>
          <a:xfrm>
            <a:off x="571500" y="5715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pic>
        <p:nvPicPr>
          <p:cNvPr descr="image.png" id="174" name="Google Shape;174;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5" name="Google Shape;175;p19"/>
          <p:cNvPicPr preferRelativeResize="0"/>
          <p:nvPr/>
        </p:nvPicPr>
        <p:blipFill rotWithShape="1">
          <a:blip r:embed="rId4">
            <a:alphaModFix/>
          </a:blip>
          <a:srcRect b="0" l="0" r="0" t="0"/>
          <a:stretch/>
        </p:blipFill>
        <p:spPr>
          <a:xfrm>
            <a:off x="571500" y="1571625"/>
            <a:ext cx="11049000" cy="4714875"/>
          </a:xfrm>
          <a:prstGeom prst="rect">
            <a:avLst/>
          </a:prstGeom>
          <a:noFill/>
          <a:ln>
            <a:noFill/>
          </a:ln>
        </p:spPr>
      </p:pic>
      <p:pic>
        <p:nvPicPr>
          <p:cNvPr descr="image.png" id="176" name="Google Shape;176;p19"/>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177" name="Google Shape;177;p19"/>
          <p:cNvSpPr txBox="1"/>
          <p:nvPr/>
        </p:nvSpPr>
        <p:spPr>
          <a:xfrm>
            <a:off x="571500" y="5586412"/>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500" u="none" cap="none" strike="noStrike">
                <a:solidFill>
                  <a:srgbClr val="757575"/>
                </a:solidFill>
                <a:latin typeface="Lato"/>
                <a:ea typeface="Lato"/>
                <a:cs typeface="Lato"/>
                <a:sym typeface="Lato"/>
              </a:rPr>
              <a:t>Exponential growth in digital platform usage for cultural preservation and creative commerce.</a:t>
            </a:r>
            <a:endParaRPr/>
          </a:p>
        </p:txBody>
      </p:sp>
      <p:sp>
        <p:nvSpPr>
          <p:cNvPr id="178" name="Google Shape;178;p19"/>
          <p:cNvSpPr txBox="1"/>
          <p:nvPr/>
        </p:nvSpPr>
        <p:spPr>
          <a:xfrm>
            <a:off x="571500" y="6410325"/>
            <a:ext cx="914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Market Growth</a:t>
            </a:r>
            <a:endParaRPr/>
          </a:p>
        </p:txBody>
      </p:sp>
      <p:sp>
        <p:nvSpPr>
          <p:cNvPr id="179" name="Google Shape;179;p19"/>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07</a:t>
            </a:r>
            <a:endParaRPr/>
          </a:p>
        </p:txBody>
      </p:sp>
      <p:sp>
        <p:nvSpPr>
          <p:cNvPr id="180" name="Google Shape;180;p19"/>
          <p:cNvSpPr txBox="1"/>
          <p:nvPr/>
        </p:nvSpPr>
        <p:spPr>
          <a:xfrm>
            <a:off x="762000" y="571500"/>
            <a:ext cx="11401425"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CULTURAL TECH ADOPTION TRENDS</a:t>
            </a:r>
            <a:endParaRPr/>
          </a:p>
        </p:txBody>
      </p:sp>
      <p:sp>
        <p:nvSpPr>
          <p:cNvPr id="181" name="Google Shape;181;p19"/>
          <p:cNvSpPr/>
          <p:nvPr/>
        </p:nvSpPr>
        <p:spPr>
          <a:xfrm>
            <a:off x="571500" y="5715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pic>
        <p:nvPicPr>
          <p:cNvPr descr="image.png" id="186" name="Google Shape;186;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7" name="Google Shape;187;p20"/>
          <p:cNvPicPr preferRelativeResize="0"/>
          <p:nvPr/>
        </p:nvPicPr>
        <p:blipFill rotWithShape="1">
          <a:blip r:embed="rId4">
            <a:alphaModFix/>
          </a:blip>
          <a:srcRect b="0" l="0" r="0" t="0"/>
          <a:stretch/>
        </p:blipFill>
        <p:spPr>
          <a:xfrm>
            <a:off x="571500" y="2125414"/>
            <a:ext cx="3492549" cy="2381250"/>
          </a:xfrm>
          <a:prstGeom prst="rect">
            <a:avLst/>
          </a:prstGeom>
          <a:noFill/>
          <a:ln>
            <a:noFill/>
          </a:ln>
        </p:spPr>
      </p:pic>
      <p:pic>
        <p:nvPicPr>
          <p:cNvPr descr="image.png" id="188" name="Google Shape;188;p20"/>
          <p:cNvPicPr preferRelativeResize="0"/>
          <p:nvPr/>
        </p:nvPicPr>
        <p:blipFill rotWithShape="1">
          <a:blip r:embed="rId5">
            <a:alphaModFix/>
          </a:blip>
          <a:srcRect b="0" l="0" r="0" t="0"/>
          <a:stretch/>
        </p:blipFill>
        <p:spPr>
          <a:xfrm>
            <a:off x="4349799" y="2125414"/>
            <a:ext cx="3492549" cy="2381250"/>
          </a:xfrm>
          <a:prstGeom prst="rect">
            <a:avLst/>
          </a:prstGeom>
          <a:noFill/>
          <a:ln>
            <a:noFill/>
          </a:ln>
        </p:spPr>
      </p:pic>
      <p:pic>
        <p:nvPicPr>
          <p:cNvPr descr="image.png" id="189" name="Google Shape;189;p20"/>
          <p:cNvPicPr preferRelativeResize="0"/>
          <p:nvPr/>
        </p:nvPicPr>
        <p:blipFill rotWithShape="1">
          <a:blip r:embed="rId6">
            <a:alphaModFix/>
          </a:blip>
          <a:srcRect b="0" l="0" r="0" t="0"/>
          <a:stretch/>
        </p:blipFill>
        <p:spPr>
          <a:xfrm>
            <a:off x="8128099" y="2125414"/>
            <a:ext cx="3492549" cy="2381250"/>
          </a:xfrm>
          <a:prstGeom prst="rect">
            <a:avLst/>
          </a:prstGeom>
          <a:noFill/>
          <a:ln>
            <a:noFill/>
          </a:ln>
        </p:spPr>
      </p:pic>
      <p:pic>
        <p:nvPicPr>
          <p:cNvPr descr="image.png" id="190" name="Google Shape;190;p20"/>
          <p:cNvPicPr preferRelativeResize="0"/>
          <p:nvPr/>
        </p:nvPicPr>
        <p:blipFill rotWithShape="1">
          <a:blip r:embed="rId7">
            <a:alphaModFix/>
          </a:blip>
          <a:srcRect b="0" l="0" r="0" t="0"/>
          <a:stretch/>
        </p:blipFill>
        <p:spPr>
          <a:xfrm>
            <a:off x="571500" y="6257925"/>
            <a:ext cx="11049000" cy="314325"/>
          </a:xfrm>
          <a:prstGeom prst="rect">
            <a:avLst/>
          </a:prstGeom>
          <a:noFill/>
          <a:ln>
            <a:noFill/>
          </a:ln>
        </p:spPr>
      </p:pic>
      <p:sp>
        <p:nvSpPr>
          <p:cNvPr id="191" name="Google Shape;191;p20"/>
          <p:cNvSpPr txBox="1"/>
          <p:nvPr/>
        </p:nvSpPr>
        <p:spPr>
          <a:xfrm>
            <a:off x="571500" y="6410325"/>
            <a:ext cx="86677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Visual Synergy</a:t>
            </a:r>
            <a:endParaRPr/>
          </a:p>
        </p:txBody>
      </p:sp>
      <p:sp>
        <p:nvSpPr>
          <p:cNvPr id="192" name="Google Shape;192;p20"/>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08</a:t>
            </a:r>
            <a:endParaRPr/>
          </a:p>
        </p:txBody>
      </p:sp>
      <p:sp>
        <p:nvSpPr>
          <p:cNvPr id="193" name="Google Shape;193;p20"/>
          <p:cNvSpPr txBox="1"/>
          <p:nvPr/>
        </p:nvSpPr>
        <p:spPr>
          <a:xfrm>
            <a:off x="484186" y="4709219"/>
            <a:ext cx="3667177"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1A1A1A"/>
                </a:solidFill>
                <a:latin typeface="Lato"/>
                <a:ea typeface="Lato"/>
                <a:cs typeface="Lato"/>
                <a:sym typeface="Lato"/>
              </a:rPr>
              <a:t>Digital Arts</a:t>
            </a:r>
            <a:endParaRPr/>
          </a:p>
        </p:txBody>
      </p:sp>
      <p:sp>
        <p:nvSpPr>
          <p:cNvPr id="194" name="Google Shape;194;p20"/>
          <p:cNvSpPr txBox="1"/>
          <p:nvPr/>
        </p:nvSpPr>
        <p:spPr>
          <a:xfrm>
            <a:off x="571500" y="5092749"/>
            <a:ext cx="3492549"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24242"/>
                </a:solidFill>
                <a:latin typeface="Lato"/>
                <a:ea typeface="Lato"/>
                <a:cs typeface="Lato"/>
                <a:sym typeface="Lato"/>
              </a:rPr>
              <a:t>NFTs and crypto-art empower artists to bypass global gatekeepers.</a:t>
            </a:r>
            <a:endParaRPr/>
          </a:p>
        </p:txBody>
      </p:sp>
      <p:sp>
        <p:nvSpPr>
          <p:cNvPr id="195" name="Google Shape;195;p20"/>
          <p:cNvSpPr txBox="1"/>
          <p:nvPr/>
        </p:nvSpPr>
        <p:spPr>
          <a:xfrm>
            <a:off x="4262485" y="4709219"/>
            <a:ext cx="3667177"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1A1A1A"/>
                </a:solidFill>
                <a:latin typeface="Lato"/>
                <a:ea typeface="Lato"/>
                <a:cs typeface="Lato"/>
                <a:sym typeface="Lato"/>
              </a:rPr>
              <a:t>Immersive Education</a:t>
            </a:r>
            <a:endParaRPr/>
          </a:p>
        </p:txBody>
      </p:sp>
      <p:sp>
        <p:nvSpPr>
          <p:cNvPr id="196" name="Google Shape;196;p20"/>
          <p:cNvSpPr txBox="1"/>
          <p:nvPr/>
        </p:nvSpPr>
        <p:spPr>
          <a:xfrm>
            <a:off x="4349799" y="5092749"/>
            <a:ext cx="3492549"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24242"/>
                </a:solidFill>
                <a:latin typeface="Lato"/>
                <a:ea typeface="Lato"/>
                <a:cs typeface="Lato"/>
                <a:sym typeface="Lato"/>
              </a:rPr>
              <a:t>VR/AR tools used to teach traditional dance and rituals in urban schools.</a:t>
            </a:r>
            <a:endParaRPr/>
          </a:p>
        </p:txBody>
      </p:sp>
      <p:sp>
        <p:nvSpPr>
          <p:cNvPr id="197" name="Google Shape;197;p20"/>
          <p:cNvSpPr txBox="1"/>
          <p:nvPr/>
        </p:nvSpPr>
        <p:spPr>
          <a:xfrm>
            <a:off x="8040785" y="4709219"/>
            <a:ext cx="3667177"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1A1A1A"/>
                </a:solidFill>
                <a:latin typeface="Lato"/>
                <a:ea typeface="Lato"/>
                <a:cs typeface="Lato"/>
                <a:sym typeface="Lato"/>
              </a:rPr>
              <a:t>The New Pattern</a:t>
            </a:r>
            <a:endParaRPr/>
          </a:p>
        </p:txBody>
      </p:sp>
      <p:sp>
        <p:nvSpPr>
          <p:cNvPr id="198" name="Google Shape;198;p20"/>
          <p:cNvSpPr txBox="1"/>
          <p:nvPr/>
        </p:nvSpPr>
        <p:spPr>
          <a:xfrm>
            <a:off x="8128099" y="5092749"/>
            <a:ext cx="3492549"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24242"/>
                </a:solidFill>
                <a:latin typeface="Lato"/>
                <a:ea typeface="Lato"/>
                <a:cs typeface="Lato"/>
                <a:sym typeface="Lato"/>
              </a:rPr>
              <a:t>Visual metaphors blending textiles with silicon architectures.</a:t>
            </a:r>
            <a:endParaRPr/>
          </a:p>
        </p:txBody>
      </p:sp>
      <p:pic>
        <p:nvPicPr>
          <p:cNvPr descr="image.png" id="199" name="Google Shape;199;p20"/>
          <p:cNvPicPr preferRelativeResize="0"/>
          <p:nvPr/>
        </p:nvPicPr>
        <p:blipFill rotWithShape="1">
          <a:blip r:embed="rId8">
            <a:alphaModFix/>
          </a:blip>
          <a:srcRect b="0" l="0" r="0" t="0"/>
          <a:stretch/>
        </p:blipFill>
        <p:spPr>
          <a:xfrm>
            <a:off x="571500" y="2125414"/>
            <a:ext cx="3492549" cy="2381250"/>
          </a:xfrm>
          <a:prstGeom prst="rect">
            <a:avLst/>
          </a:prstGeom>
          <a:noFill/>
          <a:ln>
            <a:noFill/>
          </a:ln>
        </p:spPr>
      </p:pic>
      <p:pic>
        <p:nvPicPr>
          <p:cNvPr descr="image.png" id="200" name="Google Shape;200;p20"/>
          <p:cNvPicPr preferRelativeResize="0"/>
          <p:nvPr/>
        </p:nvPicPr>
        <p:blipFill rotWithShape="1">
          <a:blip r:embed="rId9">
            <a:alphaModFix/>
          </a:blip>
          <a:srcRect b="0" l="0" r="0" t="0"/>
          <a:stretch/>
        </p:blipFill>
        <p:spPr>
          <a:xfrm>
            <a:off x="4349799" y="2125414"/>
            <a:ext cx="3492549" cy="2381250"/>
          </a:xfrm>
          <a:prstGeom prst="rect">
            <a:avLst/>
          </a:prstGeom>
          <a:noFill/>
          <a:ln>
            <a:noFill/>
          </a:ln>
        </p:spPr>
      </p:pic>
      <p:pic>
        <p:nvPicPr>
          <p:cNvPr descr="image.png" id="201" name="Google Shape;201;p20"/>
          <p:cNvPicPr preferRelativeResize="0"/>
          <p:nvPr/>
        </p:nvPicPr>
        <p:blipFill rotWithShape="1">
          <a:blip r:embed="rId10">
            <a:alphaModFix/>
          </a:blip>
          <a:srcRect b="0" l="0" r="0" t="0"/>
          <a:stretch/>
        </p:blipFill>
        <p:spPr>
          <a:xfrm>
            <a:off x="8128099" y="2125414"/>
            <a:ext cx="3492549" cy="2381250"/>
          </a:xfrm>
          <a:prstGeom prst="rect">
            <a:avLst/>
          </a:prstGeom>
          <a:noFill/>
          <a:ln>
            <a:noFill/>
          </a:ln>
        </p:spPr>
      </p:pic>
      <p:sp>
        <p:nvSpPr>
          <p:cNvPr id="202" name="Google Shape;202;p20"/>
          <p:cNvSpPr txBox="1"/>
          <p:nvPr/>
        </p:nvSpPr>
        <p:spPr>
          <a:xfrm>
            <a:off x="762000" y="571500"/>
            <a:ext cx="11401425"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CREATIVE CONVERGENCE</a:t>
            </a:r>
            <a:endParaRPr/>
          </a:p>
        </p:txBody>
      </p:sp>
      <p:sp>
        <p:nvSpPr>
          <p:cNvPr id="203" name="Google Shape;203;p20"/>
          <p:cNvSpPr/>
          <p:nvPr/>
        </p:nvSpPr>
        <p:spPr>
          <a:xfrm>
            <a:off x="571500" y="5715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07" name="Shape 207"/>
        <p:cNvGrpSpPr/>
        <p:nvPr/>
      </p:nvGrpSpPr>
      <p:grpSpPr>
        <a:xfrm>
          <a:off x="0" y="0"/>
          <a:ext cx="0" cy="0"/>
          <a:chOff x="0" y="0"/>
          <a:chExt cx="0" cy="0"/>
        </a:xfrm>
      </p:grpSpPr>
      <p:pic>
        <p:nvPicPr>
          <p:cNvPr descr="image.png" id="208" name="Google Shape;208;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9" name="Google Shape;209;p21"/>
          <p:cNvPicPr preferRelativeResize="0"/>
          <p:nvPr/>
        </p:nvPicPr>
        <p:blipFill rotWithShape="1">
          <a:blip r:embed="rId4">
            <a:alphaModFix/>
          </a:blip>
          <a:srcRect b="0" l="0" r="0" t="0"/>
          <a:stretch/>
        </p:blipFill>
        <p:spPr>
          <a:xfrm>
            <a:off x="1809750" y="1137493"/>
            <a:ext cx="8572500" cy="762000"/>
          </a:xfrm>
          <a:prstGeom prst="rect">
            <a:avLst/>
          </a:prstGeom>
          <a:noFill/>
          <a:ln>
            <a:noFill/>
          </a:ln>
        </p:spPr>
      </p:pic>
      <p:sp>
        <p:nvSpPr>
          <p:cNvPr id="210" name="Google Shape;210;p21"/>
          <p:cNvSpPr txBox="1"/>
          <p:nvPr/>
        </p:nvSpPr>
        <p:spPr>
          <a:xfrm>
            <a:off x="1595437" y="2280493"/>
            <a:ext cx="9001125" cy="255984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3600" u="none" cap="none" strike="noStrike">
                <a:solidFill>
                  <a:srgbClr val="1A1A1A"/>
                </a:solidFill>
                <a:latin typeface="Poppins"/>
                <a:ea typeface="Poppins"/>
                <a:cs typeface="Poppins"/>
                <a:sym typeface="Poppins"/>
              </a:rPr>
              <a:t>"The tools are new, but the spirit is ancient. Africa isn't just adapting to tech; it is giving technology an African soul."</a:t>
            </a:r>
            <a:endParaRPr/>
          </a:p>
        </p:txBody>
      </p:sp>
      <p:sp>
        <p:nvSpPr>
          <p:cNvPr id="211" name="Google Shape;211;p21"/>
          <p:cNvSpPr txBox="1"/>
          <p:nvPr/>
        </p:nvSpPr>
        <p:spPr>
          <a:xfrm>
            <a:off x="1809750" y="5126087"/>
            <a:ext cx="85725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1" i="0" lang="en-US" sz="1800" u="none" cap="none" strike="noStrike">
                <a:solidFill>
                  <a:srgbClr val="E64A19"/>
                </a:solidFill>
                <a:latin typeface="Lato"/>
                <a:ea typeface="Lato"/>
                <a:cs typeface="Lato"/>
                <a:sym typeface="Lato"/>
              </a:rPr>
              <a:t>— The Silicon Savannah Vision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pic>
        <p:nvPicPr>
          <p:cNvPr descr="image.png" id="216" name="Google Shape;216;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7" name="Google Shape;217;p22"/>
          <p:cNvPicPr preferRelativeResize="0"/>
          <p:nvPr/>
        </p:nvPicPr>
        <p:blipFill rotWithShape="1">
          <a:blip r:embed="rId4">
            <a:alphaModFix/>
          </a:blip>
          <a:srcRect b="0" l="0" r="0" t="0"/>
          <a:stretch/>
        </p:blipFill>
        <p:spPr>
          <a:xfrm>
            <a:off x="571500" y="6257925"/>
            <a:ext cx="11049000" cy="314325"/>
          </a:xfrm>
          <a:prstGeom prst="rect">
            <a:avLst/>
          </a:prstGeom>
          <a:noFill/>
          <a:ln>
            <a:noFill/>
          </a:ln>
        </p:spPr>
      </p:pic>
      <p:pic>
        <p:nvPicPr>
          <p:cNvPr descr="image.png" id="218" name="Google Shape;218;p22"/>
          <p:cNvPicPr preferRelativeResize="0"/>
          <p:nvPr/>
        </p:nvPicPr>
        <p:blipFill rotWithShape="1">
          <a:blip r:embed="rId5">
            <a:alphaModFix/>
          </a:blip>
          <a:srcRect b="0" l="0" r="0" t="0"/>
          <a:stretch/>
        </p:blipFill>
        <p:spPr>
          <a:xfrm>
            <a:off x="1556295" y="2886075"/>
            <a:ext cx="571500" cy="571500"/>
          </a:xfrm>
          <a:prstGeom prst="rect">
            <a:avLst/>
          </a:prstGeom>
          <a:noFill/>
          <a:ln>
            <a:noFill/>
          </a:ln>
        </p:spPr>
      </p:pic>
      <p:pic>
        <p:nvPicPr>
          <p:cNvPr descr="image.png" id="219" name="Google Shape;219;p22"/>
          <p:cNvPicPr preferRelativeResize="0"/>
          <p:nvPr/>
        </p:nvPicPr>
        <p:blipFill rotWithShape="1">
          <a:blip r:embed="rId6">
            <a:alphaModFix/>
          </a:blip>
          <a:srcRect b="0" l="0" r="0" t="0"/>
          <a:stretch/>
        </p:blipFill>
        <p:spPr>
          <a:xfrm>
            <a:off x="4392215" y="2886075"/>
            <a:ext cx="571500" cy="571500"/>
          </a:xfrm>
          <a:prstGeom prst="rect">
            <a:avLst/>
          </a:prstGeom>
          <a:noFill/>
          <a:ln>
            <a:noFill/>
          </a:ln>
        </p:spPr>
      </p:pic>
      <p:pic>
        <p:nvPicPr>
          <p:cNvPr descr="image.png" id="220" name="Google Shape;220;p22"/>
          <p:cNvPicPr preferRelativeResize="0"/>
          <p:nvPr/>
        </p:nvPicPr>
        <p:blipFill rotWithShape="1">
          <a:blip r:embed="rId7">
            <a:alphaModFix/>
          </a:blip>
          <a:srcRect b="0" l="0" r="0" t="0"/>
          <a:stretch/>
        </p:blipFill>
        <p:spPr>
          <a:xfrm>
            <a:off x="7228135" y="2886075"/>
            <a:ext cx="571500" cy="571500"/>
          </a:xfrm>
          <a:prstGeom prst="rect">
            <a:avLst/>
          </a:prstGeom>
          <a:noFill/>
          <a:ln>
            <a:noFill/>
          </a:ln>
        </p:spPr>
      </p:pic>
      <p:pic>
        <p:nvPicPr>
          <p:cNvPr descr="image.png" id="221" name="Google Shape;221;p22"/>
          <p:cNvPicPr preferRelativeResize="0"/>
          <p:nvPr/>
        </p:nvPicPr>
        <p:blipFill rotWithShape="1">
          <a:blip r:embed="rId8">
            <a:alphaModFix/>
          </a:blip>
          <a:srcRect b="0" l="0" r="0" t="0"/>
          <a:stretch/>
        </p:blipFill>
        <p:spPr>
          <a:xfrm>
            <a:off x="10064055" y="2886075"/>
            <a:ext cx="571500" cy="571500"/>
          </a:xfrm>
          <a:prstGeom prst="rect">
            <a:avLst/>
          </a:prstGeom>
          <a:noFill/>
          <a:ln>
            <a:noFill/>
          </a:ln>
        </p:spPr>
      </p:pic>
      <p:sp>
        <p:nvSpPr>
          <p:cNvPr id="222" name="Google Shape;222;p22"/>
          <p:cNvSpPr txBox="1"/>
          <p:nvPr/>
        </p:nvSpPr>
        <p:spPr>
          <a:xfrm>
            <a:off x="571500" y="6410325"/>
            <a:ext cx="10668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Evolutionary Path</a:t>
            </a:r>
            <a:endParaRPr/>
          </a:p>
        </p:txBody>
      </p:sp>
      <p:sp>
        <p:nvSpPr>
          <p:cNvPr id="223" name="Google Shape;223;p22"/>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10</a:t>
            </a:r>
            <a:endParaRPr/>
          </a:p>
        </p:txBody>
      </p:sp>
      <p:sp>
        <p:nvSpPr>
          <p:cNvPr id="224" name="Google Shape;224;p22"/>
          <p:cNvSpPr/>
          <p:nvPr/>
        </p:nvSpPr>
        <p:spPr>
          <a:xfrm>
            <a:off x="571500" y="3467100"/>
            <a:ext cx="11049000" cy="38100"/>
          </a:xfrm>
          <a:prstGeom prst="rect">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2"/>
          <p:cNvSpPr txBox="1"/>
          <p:nvPr/>
        </p:nvSpPr>
        <p:spPr>
          <a:xfrm>
            <a:off x="507968" y="3695700"/>
            <a:ext cx="2668302"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M-Pesa</a:t>
            </a:r>
            <a:endParaRPr/>
          </a:p>
        </p:txBody>
      </p:sp>
      <p:sp>
        <p:nvSpPr>
          <p:cNvPr id="226" name="Google Shape;226;p22"/>
          <p:cNvSpPr txBox="1"/>
          <p:nvPr/>
        </p:nvSpPr>
        <p:spPr>
          <a:xfrm>
            <a:off x="571500" y="4343400"/>
            <a:ext cx="254124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Financial inclusion revolutionized through SMS banking.</a:t>
            </a:r>
            <a:endParaRPr/>
          </a:p>
        </p:txBody>
      </p:sp>
      <p:sp>
        <p:nvSpPr>
          <p:cNvPr id="227" name="Google Shape;227;p22"/>
          <p:cNvSpPr txBox="1"/>
          <p:nvPr/>
        </p:nvSpPr>
        <p:spPr>
          <a:xfrm>
            <a:off x="3343888" y="3695700"/>
            <a:ext cx="2668302"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Tech Hubs</a:t>
            </a:r>
            <a:endParaRPr/>
          </a:p>
        </p:txBody>
      </p:sp>
      <p:sp>
        <p:nvSpPr>
          <p:cNvPr id="228" name="Google Shape;228;p22"/>
          <p:cNvSpPr txBox="1"/>
          <p:nvPr/>
        </p:nvSpPr>
        <p:spPr>
          <a:xfrm>
            <a:off x="3407419" y="4343400"/>
            <a:ext cx="254124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Nairobi (iHub) and Lagos (CcHub) spark the startup boom.</a:t>
            </a:r>
            <a:endParaRPr/>
          </a:p>
        </p:txBody>
      </p:sp>
      <p:sp>
        <p:nvSpPr>
          <p:cNvPr id="229" name="Google Shape;229;p22"/>
          <p:cNvSpPr txBox="1"/>
          <p:nvPr/>
        </p:nvSpPr>
        <p:spPr>
          <a:xfrm>
            <a:off x="6179808" y="3695700"/>
            <a:ext cx="2668302"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Afrobeats</a:t>
            </a:r>
            <a:endParaRPr/>
          </a:p>
        </p:txBody>
      </p:sp>
      <p:sp>
        <p:nvSpPr>
          <p:cNvPr id="230" name="Google Shape;230;p22"/>
          <p:cNvSpPr txBox="1"/>
          <p:nvPr/>
        </p:nvSpPr>
        <p:spPr>
          <a:xfrm>
            <a:off x="6243339" y="4343400"/>
            <a:ext cx="254124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Digital streaming turns local sound into global culture.</a:t>
            </a:r>
            <a:endParaRPr/>
          </a:p>
        </p:txBody>
      </p:sp>
      <p:sp>
        <p:nvSpPr>
          <p:cNvPr id="231" name="Google Shape;231;p22"/>
          <p:cNvSpPr txBox="1"/>
          <p:nvPr/>
        </p:nvSpPr>
        <p:spPr>
          <a:xfrm>
            <a:off x="9015728" y="3695700"/>
            <a:ext cx="2668302"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400" u="none" cap="none" strike="noStrike">
                <a:solidFill>
                  <a:srgbClr val="E64A19"/>
                </a:solidFill>
                <a:latin typeface="Poppins SemiBold"/>
                <a:ea typeface="Poppins SemiBold"/>
                <a:cs typeface="Poppins SemiBold"/>
                <a:sym typeface="Poppins SemiBold"/>
              </a:rPr>
              <a:t>Ethic AI</a:t>
            </a:r>
            <a:endParaRPr/>
          </a:p>
        </p:txBody>
      </p:sp>
      <p:sp>
        <p:nvSpPr>
          <p:cNvPr id="232" name="Google Shape;232;p22"/>
          <p:cNvSpPr txBox="1"/>
          <p:nvPr/>
        </p:nvSpPr>
        <p:spPr>
          <a:xfrm>
            <a:off x="9079259" y="4343400"/>
            <a:ext cx="254124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24242"/>
                </a:solidFill>
                <a:latin typeface="Lato"/>
                <a:ea typeface="Lato"/>
                <a:cs typeface="Lato"/>
                <a:sym typeface="Lato"/>
              </a:rPr>
              <a:t>Localized NLP models preserve indigenous dialects.</a:t>
            </a:r>
            <a:endParaRPr/>
          </a:p>
        </p:txBody>
      </p:sp>
      <p:sp>
        <p:nvSpPr>
          <p:cNvPr id="233" name="Google Shape;233;p22"/>
          <p:cNvSpPr txBox="1"/>
          <p:nvPr/>
        </p:nvSpPr>
        <p:spPr>
          <a:xfrm>
            <a:off x="762000" y="571500"/>
            <a:ext cx="11401425"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MILESTONES OF THE DIGITAL VILLAGE</a:t>
            </a:r>
            <a:endParaRPr/>
          </a:p>
        </p:txBody>
      </p:sp>
      <p:sp>
        <p:nvSpPr>
          <p:cNvPr id="234" name="Google Shape;234;p22"/>
          <p:cNvSpPr/>
          <p:nvPr/>
        </p:nvSpPr>
        <p:spPr>
          <a:xfrm>
            <a:off x="571500" y="5715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pic>
        <p:nvPicPr>
          <p:cNvPr descr="image.png" id="239" name="Google Shape;239;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0" name="Google Shape;240;p23"/>
          <p:cNvPicPr preferRelativeResize="0"/>
          <p:nvPr/>
        </p:nvPicPr>
        <p:blipFill rotWithShape="1">
          <a:blip r:embed="rId4">
            <a:alphaModFix/>
          </a:blip>
          <a:srcRect b="0" l="0" r="0" t="0"/>
          <a:stretch/>
        </p:blipFill>
        <p:spPr>
          <a:xfrm>
            <a:off x="6381750" y="1571625"/>
            <a:ext cx="5238750" cy="4762500"/>
          </a:xfrm>
          <a:prstGeom prst="rect">
            <a:avLst/>
          </a:prstGeom>
          <a:noFill/>
          <a:ln>
            <a:noFill/>
          </a:ln>
        </p:spPr>
      </p:pic>
      <p:pic>
        <p:nvPicPr>
          <p:cNvPr descr="image.png" id="241" name="Google Shape;241;p23"/>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242" name="Google Shape;242;p23"/>
          <p:cNvSpPr txBox="1"/>
          <p:nvPr/>
        </p:nvSpPr>
        <p:spPr>
          <a:xfrm>
            <a:off x="571500" y="6410325"/>
            <a:ext cx="9144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Future Outlook</a:t>
            </a:r>
            <a:endParaRPr/>
          </a:p>
        </p:txBody>
      </p:sp>
      <p:sp>
        <p:nvSpPr>
          <p:cNvPr id="243" name="Google Shape;243;p23"/>
          <p:cNvSpPr txBox="1"/>
          <p:nvPr/>
        </p:nvSpPr>
        <p:spPr>
          <a:xfrm>
            <a:off x="11153775" y="641032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BDBDBD"/>
                </a:solidFill>
                <a:latin typeface="Lato"/>
                <a:ea typeface="Lato"/>
                <a:cs typeface="Lato"/>
                <a:sym typeface="Lato"/>
              </a:rPr>
              <a:t>Slide 11</a:t>
            </a:r>
            <a:endParaRPr/>
          </a:p>
        </p:txBody>
      </p:sp>
      <p:sp>
        <p:nvSpPr>
          <p:cNvPr id="244" name="Google Shape;244;p23"/>
          <p:cNvSpPr txBox="1"/>
          <p:nvPr/>
        </p:nvSpPr>
        <p:spPr>
          <a:xfrm>
            <a:off x="1047750" y="2333625"/>
            <a:ext cx="4762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24242"/>
                </a:solidFill>
                <a:latin typeface="Lato"/>
                <a:ea typeface="Lato"/>
                <a:cs typeface="Lato"/>
                <a:sym typeface="Lato"/>
              </a:rPr>
              <a:t>Data Sovereignty:</a:t>
            </a:r>
            <a:r>
              <a:rPr b="0" i="0" lang="en-US" sz="1500" u="none" cap="none" strike="noStrike">
                <a:solidFill>
                  <a:srgbClr val="424242"/>
                </a:solidFill>
                <a:latin typeface="Lato"/>
                <a:ea typeface="Lato"/>
                <a:cs typeface="Lato"/>
                <a:sym typeface="Lato"/>
              </a:rPr>
              <a:t> Ensuring local communities own and control their cultural datasets.</a:t>
            </a:r>
            <a:endParaRPr/>
          </a:p>
        </p:txBody>
      </p:sp>
      <p:sp>
        <p:nvSpPr>
          <p:cNvPr id="245" name="Google Shape;245;p23"/>
          <p:cNvSpPr txBox="1"/>
          <p:nvPr/>
        </p:nvSpPr>
        <p:spPr>
          <a:xfrm>
            <a:off x="1047750" y="3181350"/>
            <a:ext cx="4762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24242"/>
                </a:solidFill>
                <a:latin typeface="Lato"/>
                <a:ea typeface="Lato"/>
                <a:cs typeface="Lato"/>
                <a:sym typeface="Lato"/>
              </a:rPr>
              <a:t>Multilingual AI:</a:t>
            </a:r>
            <a:r>
              <a:rPr b="0" i="0" lang="en-US" sz="1500" u="none" cap="none" strike="noStrike">
                <a:solidFill>
                  <a:srgbClr val="424242"/>
                </a:solidFill>
                <a:latin typeface="Lato"/>
                <a:ea typeface="Lato"/>
                <a:cs typeface="Lato"/>
                <a:sym typeface="Lato"/>
              </a:rPr>
              <a:t> Moving beyond colonial languages in the digital sphere.</a:t>
            </a:r>
            <a:endParaRPr/>
          </a:p>
        </p:txBody>
      </p:sp>
      <p:sp>
        <p:nvSpPr>
          <p:cNvPr id="246" name="Google Shape;246;p23"/>
          <p:cNvSpPr txBox="1"/>
          <p:nvPr/>
        </p:nvSpPr>
        <p:spPr>
          <a:xfrm>
            <a:off x="1047750" y="4029075"/>
            <a:ext cx="4762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24242"/>
                </a:solidFill>
                <a:latin typeface="Lato"/>
                <a:ea typeface="Lato"/>
                <a:cs typeface="Lato"/>
                <a:sym typeface="Lato"/>
              </a:rPr>
              <a:t>Digital Literacy:</a:t>
            </a:r>
            <a:r>
              <a:rPr b="0" i="0" lang="en-US" sz="1500" u="none" cap="none" strike="noStrike">
                <a:solidFill>
                  <a:srgbClr val="424242"/>
                </a:solidFill>
                <a:latin typeface="Lato"/>
                <a:ea typeface="Lato"/>
                <a:cs typeface="Lato"/>
                <a:sym typeface="Lato"/>
              </a:rPr>
              <a:t> Bridging the generational gap between elders and youth.</a:t>
            </a:r>
            <a:endParaRPr/>
          </a:p>
        </p:txBody>
      </p:sp>
      <p:sp>
        <p:nvSpPr>
          <p:cNvPr id="247" name="Google Shape;247;p23"/>
          <p:cNvSpPr txBox="1"/>
          <p:nvPr/>
        </p:nvSpPr>
        <p:spPr>
          <a:xfrm>
            <a:off x="1047750" y="4876800"/>
            <a:ext cx="4762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24242"/>
                </a:solidFill>
                <a:latin typeface="Lato"/>
                <a:ea typeface="Lato"/>
                <a:cs typeface="Lato"/>
                <a:sym typeface="Lato"/>
              </a:rPr>
              <a:t>Ethical Tech:</a:t>
            </a:r>
            <a:r>
              <a:rPr b="0" i="0" lang="en-US" sz="1500" u="none" cap="none" strike="noStrike">
                <a:solidFill>
                  <a:srgbClr val="424242"/>
                </a:solidFill>
                <a:latin typeface="Lato"/>
                <a:ea typeface="Lato"/>
                <a:cs typeface="Lato"/>
                <a:sym typeface="Lato"/>
              </a:rPr>
              <a:t> Building algorithms that respect communal values over pure profit.</a:t>
            </a:r>
            <a:endParaRPr/>
          </a:p>
        </p:txBody>
      </p:sp>
      <p:pic>
        <p:nvPicPr>
          <p:cNvPr descr="image.png" id="248" name="Google Shape;248;p23"/>
          <p:cNvPicPr preferRelativeResize="0"/>
          <p:nvPr/>
        </p:nvPicPr>
        <p:blipFill rotWithShape="1">
          <a:blip r:embed="rId6">
            <a:alphaModFix/>
          </a:blip>
          <a:srcRect b="0" l="0" r="0" t="0"/>
          <a:stretch/>
        </p:blipFill>
        <p:spPr>
          <a:xfrm>
            <a:off x="571500" y="2376487"/>
            <a:ext cx="266700" cy="276225"/>
          </a:xfrm>
          <a:prstGeom prst="rect">
            <a:avLst/>
          </a:prstGeom>
          <a:noFill/>
          <a:ln>
            <a:noFill/>
          </a:ln>
        </p:spPr>
      </p:pic>
      <p:pic>
        <p:nvPicPr>
          <p:cNvPr descr="image.png" id="249" name="Google Shape;249;p23"/>
          <p:cNvPicPr preferRelativeResize="0"/>
          <p:nvPr/>
        </p:nvPicPr>
        <p:blipFill rotWithShape="1">
          <a:blip r:embed="rId7">
            <a:alphaModFix/>
          </a:blip>
          <a:srcRect b="0" l="0" r="0" t="0"/>
          <a:stretch/>
        </p:blipFill>
        <p:spPr>
          <a:xfrm>
            <a:off x="571500" y="3224212"/>
            <a:ext cx="333375" cy="276225"/>
          </a:xfrm>
          <a:prstGeom prst="rect">
            <a:avLst/>
          </a:prstGeom>
          <a:noFill/>
          <a:ln>
            <a:noFill/>
          </a:ln>
        </p:spPr>
      </p:pic>
      <p:pic>
        <p:nvPicPr>
          <p:cNvPr descr="image.png" id="250" name="Google Shape;250;p23"/>
          <p:cNvPicPr preferRelativeResize="0"/>
          <p:nvPr/>
        </p:nvPicPr>
        <p:blipFill rotWithShape="1">
          <a:blip r:embed="rId8">
            <a:alphaModFix/>
          </a:blip>
          <a:srcRect b="0" l="0" r="0" t="0"/>
          <a:stretch/>
        </p:blipFill>
        <p:spPr>
          <a:xfrm>
            <a:off x="571500" y="4071937"/>
            <a:ext cx="333375" cy="276225"/>
          </a:xfrm>
          <a:prstGeom prst="rect">
            <a:avLst/>
          </a:prstGeom>
          <a:noFill/>
          <a:ln>
            <a:noFill/>
          </a:ln>
        </p:spPr>
      </p:pic>
      <p:pic>
        <p:nvPicPr>
          <p:cNvPr descr="image.png" id="251" name="Google Shape;251;p23"/>
          <p:cNvPicPr preferRelativeResize="0"/>
          <p:nvPr/>
        </p:nvPicPr>
        <p:blipFill rotWithShape="1">
          <a:blip r:embed="rId9">
            <a:alphaModFix/>
          </a:blip>
          <a:srcRect b="0" l="0" r="0" t="0"/>
          <a:stretch/>
        </p:blipFill>
        <p:spPr>
          <a:xfrm>
            <a:off x="571500" y="4919662"/>
            <a:ext cx="304800" cy="276225"/>
          </a:xfrm>
          <a:prstGeom prst="rect">
            <a:avLst/>
          </a:prstGeom>
          <a:noFill/>
          <a:ln>
            <a:noFill/>
          </a:ln>
        </p:spPr>
      </p:pic>
      <p:sp>
        <p:nvSpPr>
          <p:cNvPr id="252" name="Google Shape;252;p23"/>
          <p:cNvSpPr txBox="1"/>
          <p:nvPr/>
        </p:nvSpPr>
        <p:spPr>
          <a:xfrm>
            <a:off x="762000" y="571500"/>
            <a:ext cx="11401425" cy="619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A237E"/>
                </a:solidFill>
                <a:latin typeface="Poppins"/>
                <a:ea typeface="Poppins"/>
                <a:cs typeface="Poppins"/>
                <a:sym typeface="Poppins"/>
              </a:rPr>
              <a:t>FUTURE-PROOFING HERITAGE</a:t>
            </a:r>
            <a:endParaRPr/>
          </a:p>
        </p:txBody>
      </p:sp>
      <p:sp>
        <p:nvSpPr>
          <p:cNvPr id="253" name="Google Shape;253;p23"/>
          <p:cNvSpPr/>
          <p:nvPr/>
        </p:nvSpPr>
        <p:spPr>
          <a:xfrm>
            <a:off x="571500" y="571500"/>
            <a:ext cx="95250" cy="619125"/>
          </a:xfrm>
          <a:prstGeom prst="rect">
            <a:avLst/>
          </a:prstGeom>
          <a:solidFill>
            <a:srgbClr val="E64A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image.png" id="258" name="Google Shape;258;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9" name="Google Shape;259;p24"/>
          <p:cNvSpPr txBox="1"/>
          <p:nvPr/>
        </p:nvSpPr>
        <p:spPr>
          <a:xfrm>
            <a:off x="295275" y="1504950"/>
            <a:ext cx="11601450"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FFFFFF"/>
                </a:solidFill>
                <a:latin typeface="Poppins"/>
                <a:ea typeface="Poppins"/>
                <a:cs typeface="Poppins"/>
                <a:sym typeface="Poppins"/>
              </a:rPr>
              <a:t>Questions?</a:t>
            </a:r>
            <a:endParaRPr/>
          </a:p>
        </p:txBody>
      </p:sp>
      <p:sp>
        <p:nvSpPr>
          <p:cNvPr id="260" name="Google Shape;260;p24"/>
          <p:cNvSpPr txBox="1"/>
          <p:nvPr/>
        </p:nvSpPr>
        <p:spPr>
          <a:xfrm>
            <a:off x="571500" y="3124200"/>
            <a:ext cx="11049000"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2250" u="none" cap="none" strike="noStrike">
                <a:solidFill>
                  <a:srgbClr val="E64A19"/>
                </a:solidFill>
                <a:latin typeface="Lato"/>
                <a:ea typeface="Lato"/>
                <a:cs typeface="Lato"/>
                <a:sym typeface="Lato"/>
              </a:rPr>
              <a:t>Join the Digital Renaissance</a:t>
            </a:r>
            <a:endParaRPr/>
          </a:p>
        </p:txBody>
      </p:sp>
      <p:sp>
        <p:nvSpPr>
          <p:cNvPr id="261" name="Google Shape;261;p24"/>
          <p:cNvSpPr/>
          <p:nvPr/>
        </p:nvSpPr>
        <p:spPr>
          <a:xfrm>
            <a:off x="5619750" y="4248150"/>
            <a:ext cx="952500" cy="38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4"/>
          <p:cNvSpPr txBox="1"/>
          <p:nvPr/>
        </p:nvSpPr>
        <p:spPr>
          <a:xfrm>
            <a:off x="571500" y="4857750"/>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BBDEFB"/>
                </a:solidFill>
                <a:latin typeface="Lato"/>
                <a:ea typeface="Lato"/>
                <a:cs typeface="Lato"/>
                <a:sym typeface="Lato"/>
              </a:rPr>
              <a:t>innovation@africadigital.com | #SiliconSavannah</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